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tiff" ContentType="image/tif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4673" r:id="rId2"/>
  </p:sldMasterIdLst>
  <p:notesMasterIdLst>
    <p:notesMasterId r:id="rId19"/>
  </p:notesMasterIdLst>
  <p:handoutMasterIdLst>
    <p:handoutMasterId r:id="rId20"/>
  </p:handoutMasterIdLst>
  <p:sldIdLst>
    <p:sldId id="290" r:id="rId3"/>
    <p:sldId id="292" r:id="rId4"/>
    <p:sldId id="306" r:id="rId5"/>
    <p:sldId id="293" r:id="rId6"/>
    <p:sldId id="304" r:id="rId7"/>
    <p:sldId id="308" r:id="rId8"/>
    <p:sldId id="295" r:id="rId9"/>
    <p:sldId id="296" r:id="rId10"/>
    <p:sldId id="309" r:id="rId11"/>
    <p:sldId id="314" r:id="rId12"/>
    <p:sldId id="307" r:id="rId13"/>
    <p:sldId id="298" r:id="rId14"/>
    <p:sldId id="313" r:id="rId15"/>
    <p:sldId id="311" r:id="rId16"/>
    <p:sldId id="312" r:id="rId17"/>
    <p:sldId id="301" r:id="rId18"/>
  </p:sldIdLst>
  <p:sldSz cx="9144000" cy="6858000" type="screen4x3"/>
  <p:notesSz cx="6797675" cy="992822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рина Красноперова" initials="ИК" lastIdx="1" clrIdx="0">
    <p:extLst>
      <p:ext uri="{19B8F6BF-5375-455C-9EA6-DF929625EA0E}">
        <p15:presenceInfo xmlns="" xmlns:p15="http://schemas.microsoft.com/office/powerpoint/2012/main" userId="1e389190c458c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00"/>
    <a:srgbClr val="000099"/>
    <a:srgbClr val="000066"/>
    <a:srgbClr val="97CBFF"/>
    <a:srgbClr val="B3D9FF"/>
    <a:srgbClr val="990000"/>
    <a:srgbClr val="CBCFDB"/>
    <a:srgbClr val="FFE4C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842" autoAdjust="0"/>
    <p:restoredTop sz="85085" autoAdjust="0"/>
  </p:normalViewPr>
  <p:slideViewPr>
    <p:cSldViewPr snapToGrid="0">
      <p:cViewPr>
        <p:scale>
          <a:sx n="60" d="100"/>
          <a:sy n="60" d="100"/>
        </p:scale>
        <p:origin x="-1640" y="-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"/>
    </p:cViewPr>
  </p:sorterViewPr>
  <p:notesViewPr>
    <p:cSldViewPr snapToGrid="0">
      <p:cViewPr varScale="1">
        <p:scale>
          <a:sx n="64" d="100"/>
          <a:sy n="64" d="100"/>
        </p:scale>
        <p:origin x="-3444" y="-114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06D3D-B01B-463B-9CB2-72BC5DE45FEA}" type="datetimeFigureOut">
              <a:rPr lang="ru-RU" smtClean="0"/>
              <a:pPr/>
              <a:t>14.01.2025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 smtClean="0"/>
              <a:t>2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491FC-7205-4243-AAE6-718E5DE8360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6144"/>
            <a:ext cx="5438140" cy="446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r>
              <a:rPr lang="ru-RU" smtClean="0"/>
              <a:t>2</a:t>
            </a: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055D563B-D296-4A85-9EE8-8990DC6445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30734280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/>
            </a:r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3345538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2930741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1124296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1219890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3887962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16</a:t>
            </a:fld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363929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6" r:id="rId1"/>
    <p:sldLayoutId id="2147484697" r:id="rId2"/>
    <p:sldLayoutId id="2147484698" r:id="rId3"/>
    <p:sldLayoutId id="2147484699" r:id="rId4"/>
    <p:sldLayoutId id="2147484700" r:id="rId5"/>
    <p:sldLayoutId id="2147484701" r:id="rId6"/>
    <p:sldLayoutId id="2147484702" r:id="rId7"/>
    <p:sldLayoutId id="2147484703" r:id="rId8"/>
    <p:sldLayoutId id="2147484704" r:id="rId9"/>
    <p:sldLayoutId id="2147484705" r:id="rId10"/>
    <p:sldLayoutId id="214748470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7" r:id="rId1"/>
    <p:sldLayoutId id="2147484708" r:id="rId2"/>
    <p:sldLayoutId id="2147484709" r:id="rId3"/>
    <p:sldLayoutId id="2147484710" r:id="rId4"/>
    <p:sldLayoutId id="2147484711" r:id="rId5"/>
    <p:sldLayoutId id="2147484712" r:id="rId6"/>
    <p:sldLayoutId id="2147484713" r:id="rId7"/>
    <p:sldLayoutId id="2147484714" r:id="rId8"/>
    <p:sldLayoutId id="2147484715" r:id="rId9"/>
    <p:sldLayoutId id="2147484716" r:id="rId10"/>
    <p:sldLayoutId id="214748471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268389"/>
            <a:ext cx="9143999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</a:t>
            </a:r>
          </a:p>
          <a:p>
            <a:pPr algn="ctr"/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противодействия распространенным методам и инструментам сетевых атак</a:t>
            </a:r>
            <a:r>
              <a:rPr lang="ru-RU" alt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Устинова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группа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БИСО-01-19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	Руководитель: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Бойков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.В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к.т.н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КБ-2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41134711"/>
              </p:ext>
            </p:extLst>
          </p:nvPr>
        </p:nvGraphicFramePr>
        <p:xfrm>
          <a:off x="0" y="987197"/>
          <a:ext cx="9144000" cy="1764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МИНОБРНАУКИ РОССИИ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Федеральное государственное бюджетное образовательное учреждение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высшего образования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«МИРЭА – Российский технологический университет»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РТУ МИРЭА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Институт кибербезопасности и цифровых технологий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Кафедра КБ-2 «Информационно-аналитические системы кибербезопасности»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69" y="2114550"/>
            <a:ext cx="7185660" cy="9184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26"/>
            <a:ext cx="9144000" cy="17482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5" y="21393"/>
            <a:ext cx="890270" cy="100901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26865" y="2888766"/>
            <a:ext cx="890270" cy="98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2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218210" y="572429"/>
            <a:ext cx="8925790" cy="712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latin typeface="+mj-lt"/>
                <a:cs typeface="Times New Roman" panose="02020603050405020304" pitchFamily="18" charset="0"/>
              </a:rPr>
              <a:t>Актуальность задачи: </a:t>
            </a:r>
            <a:r>
              <a:rPr lang="ru-RU" b="0" dirty="0">
                <a:effectLst/>
                <a:latin typeface="+mj-lt"/>
                <a:ea typeface="Calibri" panose="020F0502020204030204" pitchFamily="34" charset="0"/>
                <a:cs typeface="Arial" pitchFamily="34" charset="0"/>
              </a:rPr>
              <a:t>Актуальность исследования </a:t>
            </a:r>
            <a:r>
              <a:rPr lang="ru-RU" b="0" dirty="0" smtClean="0">
                <a:latin typeface="+mj-lt"/>
                <a:cs typeface="Arial" pitchFamily="34" charset="0"/>
              </a:rPr>
              <a:t>обусловлена тем, что возможны ложноположительные события, при котором средства обнаружения идентифицируют допустимое, законное или нормальное поведение как потенциально вредоносное, в отсутствии реальной угрозы. Причинами появления ложноположительных инцидентов являются высокая настройка чувствительности детектора, устаревшие сигнатуры и правила, не совсем корректно настроенные исключения. В настоящей работе решается актуальная задача – выявления ложноположительных инцидентов </a:t>
            </a:r>
            <a:r>
              <a:rPr lang="ru-RU" b="0" dirty="0" err="1" smtClean="0">
                <a:latin typeface="+mj-lt"/>
                <a:cs typeface="Arial" pitchFamily="34" charset="0"/>
              </a:rPr>
              <a:t>кибербезопасности</a:t>
            </a:r>
            <a:r>
              <a:rPr lang="ru-RU" b="0" dirty="0" smtClean="0">
                <a:latin typeface="+mj-lt"/>
                <a:cs typeface="Arial" pitchFamily="34" charset="0"/>
              </a:rPr>
              <a:t> с помощью их классификации на основе искусственных нейронных сетей.</a:t>
            </a:r>
            <a:endParaRPr lang="en-US" b="0" dirty="0">
              <a:effectLst/>
              <a:latin typeface="+mj-lt"/>
              <a:ea typeface="Calibri" panose="020F0502020204030204" pitchFamily="34" charset="0"/>
              <a:cs typeface="Arial" pitchFamily="34" charset="0"/>
            </a:endParaRPr>
          </a:p>
          <a:p>
            <a:pPr algn="just"/>
            <a:r>
              <a:rPr lang="ru-RU" sz="2300" dirty="0">
                <a:latin typeface="+mj-lt"/>
                <a:cs typeface="Times New Roman" panose="02020603050405020304" pitchFamily="18" charset="0"/>
              </a:rPr>
              <a:t>Цель: </a:t>
            </a:r>
            <a:r>
              <a:rPr lang="ru-RU" b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Цель исследования </a:t>
            </a:r>
            <a:r>
              <a:rPr lang="ru-RU" b="0" dirty="0" smtClean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заключается в </a:t>
            </a:r>
            <a:r>
              <a:rPr lang="ru-RU" b="0" dirty="0" smtClean="0">
                <a:latin typeface="+mj-lt"/>
                <a:ea typeface="SimSun" panose="02010600030101010101" pitchFamily="2" charset="-122"/>
                <a:cs typeface="Arial" pitchFamily="34" charset="0"/>
              </a:rPr>
              <a:t>повышении эффективности противодействия распространенным методам и инструментам сетевых атак</a:t>
            </a:r>
            <a:r>
              <a:rPr lang="ru-RU" b="0" dirty="0" smtClean="0">
                <a:effectLst/>
                <a:latin typeface="+mj-lt"/>
                <a:ea typeface="Calibri" panose="020F0502020204030204" pitchFamily="34" charset="0"/>
                <a:cs typeface="Arial" pitchFamily="34" charset="0"/>
              </a:rPr>
              <a:t>. </a:t>
            </a:r>
            <a:endParaRPr lang="ru-RU" b="0" dirty="0">
              <a:effectLst/>
              <a:latin typeface="+mj-lt"/>
              <a:ea typeface="Calibri" panose="020F0502020204030204" pitchFamily="34" charset="0"/>
              <a:cs typeface="Arial" pitchFamily="34" charset="0"/>
            </a:endParaRPr>
          </a:p>
          <a:p>
            <a:pPr marL="0" lvl="0" indent="0" algn="just">
              <a:buNone/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Задачи</a:t>
            </a:r>
            <a:r>
              <a:rPr lang="ru-RU" sz="2300" b="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ru-RU" b="0" dirty="0" smtClean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Анализ предметной области, сравнительный анализ распространенных методов и инструментов сетевых атак, а также противодействия сетевым атакам; Разработка системы противодействия сетевых атак на базе </a:t>
            </a:r>
            <a:r>
              <a:rPr lang="en-US" b="0" dirty="0" smtClean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LSTM </a:t>
            </a:r>
            <a:r>
              <a:rPr lang="ru-RU" b="0" dirty="0" smtClean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модели; Экспериментальная эксплуатация (проверка) разработанной системы противодействия сетевым атакам; </a:t>
            </a:r>
            <a:r>
              <a:rPr lang="ru-RU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Экономическое обоснование эффективности предложенного решения</a:t>
            </a:r>
            <a:r>
              <a:rPr lang="ru-RU" b="0" dirty="0" smtClean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.</a:t>
            </a:r>
          </a:p>
          <a:p>
            <a:pPr algn="just"/>
            <a:endParaRPr lang="ru-RU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7626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8432" y="0"/>
            <a:ext cx="8229600" cy="585216"/>
          </a:xfrm>
        </p:spPr>
        <p:txBody>
          <a:bodyPr/>
          <a:lstStyle/>
          <a:p>
            <a:r>
              <a:rPr lang="ru-RU" sz="31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Актуальность</a:t>
            </a:r>
            <a:endParaRPr lang="ru-RU" sz="31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Содержимое 3" descr="chart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96646" y="852103"/>
            <a:ext cx="6082383" cy="28272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Рисунок 4" descr="chart (1)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2250" y="3797075"/>
            <a:ext cx="6419864" cy="2930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8252319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3</a:t>
            </a:r>
            <a:endParaRPr lang="ru-RU" sz="1200" dirty="0"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707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7695"/>
            <a:ext cx="9144000" cy="5693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Актуальные методы сетевых атак</a:t>
            </a:r>
            <a:endParaRPr lang="ru-RU" alt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4</a:t>
            </a:r>
          </a:p>
        </p:txBody>
      </p:sp>
      <p:pic>
        <p:nvPicPr>
          <p:cNvPr id="6" name="Рисунок 5" descr="phishing_working_2-What_Is_Phishing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005920" y="3650115"/>
            <a:ext cx="5677589" cy="3207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6031378" y="1755307"/>
            <a:ext cx="166584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0" dirty="0" smtClean="0">
                <a:latin typeface="+mn-lt"/>
              </a:rPr>
              <a:t>DDoS-</a:t>
            </a:r>
            <a:r>
              <a:rPr lang="ru-RU" b="0" dirty="0" smtClean="0">
                <a:latin typeface="+mn-lt"/>
              </a:rPr>
              <a:t>атаки</a:t>
            </a:r>
            <a:endParaRPr lang="ru-RU" b="0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704" y="4720624"/>
            <a:ext cx="262345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b="0" dirty="0" smtClean="0">
                <a:latin typeface="+mn-lt"/>
              </a:rPr>
              <a:t>Схема фишинговой</a:t>
            </a:r>
          </a:p>
          <a:p>
            <a:pPr algn="ctr"/>
            <a:r>
              <a:rPr lang="ru-RU" b="0" dirty="0" smtClean="0">
                <a:latin typeface="+mn-lt"/>
              </a:rPr>
              <a:t> атаки</a:t>
            </a:r>
            <a:endParaRPr lang="ru-RU" b="0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63284" y="4322235"/>
            <a:ext cx="234930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>
                <a:latin typeface="+mn-lt"/>
              </a:rPr>
              <a:t>1. Злоумышленник отправляет фишинговый запрос адресату</a:t>
            </a:r>
            <a:endParaRPr lang="ru-RU" sz="8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45448" y="4772069"/>
            <a:ext cx="482824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800" dirty="0" smtClean="0">
                <a:latin typeface="+mn-lt"/>
              </a:rPr>
              <a:t>Хакер</a:t>
            </a:r>
            <a:endParaRPr lang="ru-RU" sz="80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20549" y="4779269"/>
            <a:ext cx="567784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800" dirty="0" smtClean="0">
                <a:latin typeface="+mn-lt"/>
              </a:rPr>
              <a:t>Жертва</a:t>
            </a:r>
            <a:endParaRPr lang="ru-RU" sz="8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83966" y="5360076"/>
            <a:ext cx="144428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>
                <a:latin typeface="+mn-lt"/>
              </a:rPr>
              <a:t>2. Жертва нажимает на фишинговую ссылку и заходит на веб-сайт</a:t>
            </a:r>
            <a:endParaRPr lang="ru-RU" sz="8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9163" y="4981071"/>
            <a:ext cx="153572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>
                <a:latin typeface="+mn-lt"/>
              </a:rPr>
              <a:t>3.  Хакер собирает важные учетные данные</a:t>
            </a:r>
            <a:endParaRPr lang="ru-RU" sz="8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16329" y="5016241"/>
            <a:ext cx="125436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>
                <a:latin typeface="+mn-lt"/>
              </a:rPr>
              <a:t>4. Хакер использовал учетные данные жертвы для доступа к личной информации</a:t>
            </a:r>
            <a:endParaRPr lang="ru-RU" sz="800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94911" y="6626991"/>
            <a:ext cx="234930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>
                <a:latin typeface="+mn-lt"/>
              </a:rPr>
              <a:t>Фишинговый веб-сайт</a:t>
            </a:r>
            <a:endParaRPr lang="ru-RU" sz="800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32299" y="6616359"/>
            <a:ext cx="234930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>
                <a:latin typeface="+mn-lt"/>
              </a:rPr>
              <a:t>Оригинальный веб-сайт</a:t>
            </a:r>
            <a:endParaRPr lang="ru-RU" sz="800" dirty="0">
              <a:latin typeface="+mn-lt"/>
            </a:endParaRPr>
          </a:p>
        </p:txBody>
      </p:sp>
      <p:pic>
        <p:nvPicPr>
          <p:cNvPr id="17" name="Рисунок 16" descr="7e8f663a5268630a35716aaec9a5535d034d47f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75115" y="600749"/>
            <a:ext cx="5449508" cy="2950525"/>
          </a:xfrm>
          <a:prstGeom prst="rect">
            <a:avLst/>
          </a:prstGeom>
          <a:ln>
            <a:solidFill>
              <a:srgbClr val="00000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="" xmlns:p14="http://schemas.microsoft.com/office/powerpoint/2010/main" val="79605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5008" y="0"/>
            <a:ext cx="8229600" cy="585216"/>
          </a:xfrm>
        </p:spPr>
        <p:txBody>
          <a:bodyPr/>
          <a:lstStyle/>
          <a:p>
            <a:r>
              <a:rPr lang="ru-RU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Актуальные инструменты сетевых атак</a:t>
            </a:r>
            <a:endParaRPr lang="ru-RU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220" y="645908"/>
            <a:ext cx="4786346" cy="33575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5500694" y="1785926"/>
            <a:ext cx="288839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0" dirty="0" smtClean="0">
                <a:latin typeface="+mn-lt"/>
              </a:rPr>
              <a:t>Metasploit Framework</a:t>
            </a:r>
            <a:endParaRPr lang="ru-RU" b="0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84218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5</a:t>
            </a:r>
            <a:endParaRPr lang="ru-RU" sz="1200" dirty="0">
              <a:latin typeface="+mn-lt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8044" y="4094041"/>
            <a:ext cx="6063183" cy="27001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0" name="TextBox 9"/>
          <p:cNvSpPr txBox="1"/>
          <p:nvPr/>
        </p:nvSpPr>
        <p:spPr>
          <a:xfrm>
            <a:off x="95691" y="4711894"/>
            <a:ext cx="2531462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b="0" dirty="0" smtClean="0">
                <a:latin typeface="+mn-lt"/>
              </a:rPr>
              <a:t>LOIC</a:t>
            </a:r>
            <a:r>
              <a:rPr lang="ru-RU" b="0" dirty="0" smtClean="0">
                <a:latin typeface="+mn-lt"/>
              </a:rPr>
              <a:t> (</a:t>
            </a:r>
            <a:r>
              <a:rPr lang="en-US" b="0" dirty="0" smtClean="0">
                <a:latin typeface="+mn-lt"/>
              </a:rPr>
              <a:t>Low Orbit Ion </a:t>
            </a:r>
            <a:endParaRPr lang="ru-RU" b="0" dirty="0" smtClean="0">
              <a:latin typeface="+mn-lt"/>
            </a:endParaRPr>
          </a:p>
          <a:p>
            <a:pPr algn="ctr"/>
            <a:r>
              <a:rPr lang="en-US" b="0" dirty="0" smtClean="0">
                <a:latin typeface="+mn-lt"/>
              </a:rPr>
              <a:t>Cannon</a:t>
            </a:r>
            <a:r>
              <a:rPr lang="ru-RU" b="0" dirty="0" smtClean="0">
                <a:latin typeface="+mn-lt"/>
              </a:rPr>
              <a:t>)</a:t>
            </a:r>
            <a:endParaRPr lang="ru-RU" b="0" dirty="0"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384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5DCC32E-DE79-4E82-9A3C-0077C31C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Актуальные решения по противодействию сетевых атак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857232"/>
            <a:ext cx="5198883" cy="26763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TextBox 7"/>
          <p:cNvSpPr txBox="1"/>
          <p:nvPr/>
        </p:nvSpPr>
        <p:spPr>
          <a:xfrm>
            <a:off x="6072198" y="1928802"/>
            <a:ext cx="109677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0" dirty="0" smtClean="0">
                <a:latin typeface="+mn-lt"/>
              </a:rPr>
              <a:t>IDS/IPS</a:t>
            </a:r>
            <a:endParaRPr lang="ru-RU" b="0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158" y="4509875"/>
            <a:ext cx="3321357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ru-RU" b="0" dirty="0" smtClean="0">
                <a:latin typeface="+mn-lt"/>
              </a:rPr>
              <a:t>Межсетевой экран нового </a:t>
            </a:r>
          </a:p>
          <a:p>
            <a:pPr algn="ctr"/>
            <a:r>
              <a:rPr lang="ru-RU" b="0" dirty="0" smtClean="0">
                <a:latin typeface="+mn-lt"/>
              </a:rPr>
              <a:t>поколения (</a:t>
            </a:r>
            <a:r>
              <a:rPr lang="en-US" b="0" dirty="0" smtClean="0">
                <a:latin typeface="+mn-lt"/>
              </a:rPr>
              <a:t>NGFW</a:t>
            </a:r>
            <a:r>
              <a:rPr lang="ru-RU" b="0" dirty="0" smtClean="0">
                <a:latin typeface="+mn-lt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6</a:t>
            </a:r>
            <a:endParaRPr lang="ru-RU" sz="1200" dirty="0">
              <a:latin typeface="+mn-lt"/>
            </a:endParaRPr>
          </a:p>
        </p:txBody>
      </p:sp>
      <p:pic>
        <p:nvPicPr>
          <p:cNvPr id="11" name="Рисунок 10" descr="Picture background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8378" y="3172686"/>
            <a:ext cx="5333458" cy="368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6737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88429"/>
            <a:ext cx="9144000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 выявления ложноположительных инцидентов </a:t>
            </a:r>
            <a:r>
              <a:rPr lang="ru-RU" alt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7</a:t>
            </a:r>
            <a:endParaRPr lang="ru-RU" sz="12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181A9B-ECB1-4F76-8BFA-880005B6DF4B}"/>
              </a:ext>
            </a:extLst>
          </p:cNvPr>
          <p:cNvSpPr txBox="1"/>
          <p:nvPr/>
        </p:nvSpPr>
        <p:spPr>
          <a:xfrm>
            <a:off x="0" y="73342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785794"/>
            <a:ext cx="8501122" cy="557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93801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модели ИАС</a:t>
            </a: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8</a:t>
            </a:r>
            <a:endParaRPr lang="ru-RU" sz="1200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2019" y="648586"/>
            <a:ext cx="6098105" cy="3859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Рисунок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6389" y="4565692"/>
            <a:ext cx="607223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01976" y="680478"/>
            <a:ext cx="3785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+mn-lt"/>
              </a:rPr>
              <a:t>Структура </a:t>
            </a:r>
            <a:r>
              <a:rPr lang="en-US" dirty="0" smtClean="0">
                <a:latin typeface="+mn-lt"/>
              </a:rPr>
              <a:t>LSTM </a:t>
            </a:r>
            <a:r>
              <a:rPr lang="ru-RU" dirty="0" smtClean="0">
                <a:latin typeface="+mn-lt"/>
              </a:rPr>
              <a:t>модели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057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1511" y="85064"/>
            <a:ext cx="8686800" cy="1143000"/>
          </a:xfrm>
        </p:spPr>
        <p:txBody>
          <a:bodyPr/>
          <a:lstStyle/>
          <a:p>
            <a:r>
              <a:rPr lang="ru-RU" sz="2400" b="1" dirty="0" smtClean="0"/>
              <a:t>Структурно-функциональная схема предлагаемой ИАС</a:t>
            </a:r>
            <a:endParaRPr lang="ru-RU" sz="2400" b="1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9962" y="916283"/>
            <a:ext cx="6944726" cy="570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9</a:t>
            </a:r>
            <a:endParaRPr lang="ru-RU" sz="12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эффективности ошибок </a:t>
            </a:r>
            <a:r>
              <a:rPr lang="en-US" alt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ru-RU" alt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10</a:t>
            </a:r>
            <a:endParaRPr lang="ru-RU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69432" y="4657045"/>
            <a:ext cx="66986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b="0" dirty="0" smtClean="0">
                <a:latin typeface="+mn-lt"/>
              </a:rPr>
              <a:t>1</a:t>
            </a:r>
            <a:endParaRPr lang="ru-RU" b="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586451" y="4768785"/>
            <a:ext cx="8012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b="0" dirty="0" smtClean="0">
                <a:latin typeface="+mn-lt"/>
              </a:rPr>
              <a:t>1</a:t>
            </a:r>
            <a:endParaRPr lang="ru-RU" b="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9413" y="5957759"/>
            <a:ext cx="11873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b="0" dirty="0" smtClean="0">
                <a:latin typeface="+mn-lt"/>
              </a:rPr>
              <a:t>0</a:t>
            </a:r>
            <a:endParaRPr lang="ru-RU" b="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200242" y="2925917"/>
            <a:ext cx="15948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b="0" dirty="0" smtClean="0">
                <a:latin typeface="+mn-lt"/>
              </a:rPr>
              <a:t>0</a:t>
            </a:r>
            <a:endParaRPr lang="ru-RU" b="0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7495" y="6273208"/>
            <a:ext cx="408644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600" b="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Прогнозируемые</a:t>
            </a:r>
            <a:endParaRPr lang="ru-RU" sz="1600" b="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342485" y="3481705"/>
            <a:ext cx="192709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600" b="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Истинные</a:t>
            </a:r>
            <a:endParaRPr lang="ru-RU" sz="1600" b="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06733" y="1032204"/>
            <a:ext cx="376391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600" b="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Матрица ошибок</a:t>
            </a:r>
            <a:endParaRPr lang="ru-RU" sz="1600" b="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4380" y="897233"/>
            <a:ext cx="7241751" cy="572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42047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0624" y="0"/>
            <a:ext cx="8229600" cy="517842"/>
          </a:xfrm>
        </p:spPr>
        <p:txBody>
          <a:bodyPr/>
          <a:lstStyle/>
          <a:p>
            <a:r>
              <a:rPr lang="ru-RU" sz="32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Тестирование системы</a:t>
            </a:r>
            <a:endParaRPr lang="ru-RU" sz="32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00108"/>
            <a:ext cx="6215106" cy="18573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2571736" y="2928934"/>
            <a:ext cx="412863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b="0" dirty="0" smtClean="0">
                <a:latin typeface="+mn-lt"/>
              </a:rPr>
              <a:t>Окно с обработанными пакетами</a:t>
            </a:r>
            <a:endParaRPr lang="ru-RU" b="0" dirty="0">
              <a:latin typeface="+mn-lt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3643314"/>
            <a:ext cx="7072362" cy="214314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TextBox 8"/>
          <p:cNvSpPr txBox="1"/>
          <p:nvPr/>
        </p:nvSpPr>
        <p:spPr>
          <a:xfrm>
            <a:off x="4887316" y="5879157"/>
            <a:ext cx="348730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b="0" dirty="0" smtClean="0">
                <a:latin typeface="+mn-lt"/>
              </a:rPr>
              <a:t>Поиск по ключевым словам</a:t>
            </a:r>
            <a:endParaRPr lang="ru-RU" b="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11</a:t>
            </a:r>
            <a:endParaRPr lang="ru-RU" sz="1200" dirty="0"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242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00108"/>
            <a:ext cx="6286544" cy="264320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786190"/>
            <a:ext cx="6123285" cy="269986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12</a:t>
            </a:r>
            <a:endParaRPr lang="ru-RU" sz="1200" dirty="0">
              <a:latin typeface="+mn-lt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0624" y="0"/>
            <a:ext cx="8229600" cy="51784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Тестирование системы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54985"/>
            <a:ext cx="8229600" cy="1143000"/>
          </a:xfrm>
        </p:spPr>
        <p:txBody>
          <a:bodyPr/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Тестирование системы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2452" y="806516"/>
            <a:ext cx="5586422" cy="5073289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extBox 4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13</a:t>
            </a:r>
            <a:endParaRPr lang="ru-RU" sz="1200" dirty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079"/>
            <a:ext cx="8229600" cy="1143000"/>
          </a:xfrm>
        </p:spPr>
        <p:txBody>
          <a:bodyPr/>
          <a:lstStyle/>
          <a:p>
            <a:r>
              <a:rPr lang="ru-RU" sz="2800" b="1" dirty="0" smtClean="0"/>
              <a:t>Тестирование системы и результат анализа</a:t>
            </a:r>
            <a:endParaRPr lang="ru-RU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14</a:t>
            </a:r>
            <a:endParaRPr lang="ru-RU" sz="1200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818707"/>
            <a:ext cx="9144000" cy="4380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44352"/>
            <a:ext cx="8229600" cy="1143000"/>
          </a:xfrm>
        </p:spPr>
        <p:txBody>
          <a:bodyPr/>
          <a:lstStyle/>
          <a:p>
            <a:r>
              <a:rPr lang="ru-RU" sz="3600" dirty="0" smtClean="0"/>
              <a:t>Экономический раздел</a:t>
            </a:r>
            <a:endParaRPr lang="ru-RU" sz="36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00174"/>
            <a:ext cx="8358246" cy="349138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15</a:t>
            </a:r>
            <a:endParaRPr lang="ru-RU" sz="1200" dirty="0"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latin typeface="+mn-lt"/>
              </a:rPr>
              <a:t>16</a:t>
            </a:r>
            <a:endParaRPr lang="ru-RU" sz="12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6DBE43C-ECA7-4119-9161-E56F36003F38}"/>
              </a:ext>
            </a:extLst>
          </p:cNvPr>
          <p:cNvSpPr txBox="1"/>
          <p:nvPr/>
        </p:nvSpPr>
        <p:spPr>
          <a:xfrm>
            <a:off x="0" y="640288"/>
            <a:ext cx="9144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SzPts val="1200"/>
            </a:pPr>
            <a:r>
              <a:rPr lang="ru-RU" b="0" dirty="0" smtClean="0">
                <a:latin typeface="+mn-lt"/>
                <a:cs typeface="Times New Roman" panose="02020603050405020304" pitchFamily="18" charset="0"/>
                <a:sym typeface="Tahoma"/>
              </a:rPr>
              <a:t>Цель выпускной квалификационной работы была достигнута благодаря решениям поставленных задач, а именно: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b="0" dirty="0" smtClean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области, сравнительный анализ распространенных методов и инструментов сетевых атак, а также противодействия сетевым атакам.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2. Разработана структурно-функциональная схема противодействия сетевых атак на базе </a:t>
            </a:r>
            <a:r>
              <a:rPr lang="en-US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ru-RU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модели.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3. В результате экспериментальной проверки разработанного приложения на 11179 пакетах подтверждена сходимость теоретических и практических результатов.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b="0" dirty="0" smtClean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4. Проведено экономическое обоснование эффективности работы, окупаемость наступает через 0.4 года.</a:t>
            </a:r>
          </a:p>
        </p:txBody>
      </p:sp>
    </p:spTree>
    <p:extLst>
      <p:ext uri="{BB962C8B-B14F-4D97-AF65-F5344CB8AC3E}">
        <p14:creationId xmlns="" xmlns:p14="http://schemas.microsoft.com/office/powerpoint/2010/main" val="93940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7818</TotalTime>
  <Words>425</Words>
  <Application>Microsoft Office PowerPoint</Application>
  <PresentationFormat>Экран (4:3)</PresentationFormat>
  <Paragraphs>84</Paragraphs>
  <Slides>16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1_Default Design</vt:lpstr>
      <vt:lpstr>2_Default Design</vt:lpstr>
      <vt:lpstr>Слайд 1</vt:lpstr>
      <vt:lpstr>Слайд 2</vt:lpstr>
      <vt:lpstr>Актуальность</vt:lpstr>
      <vt:lpstr>Слайд 4</vt:lpstr>
      <vt:lpstr>Актуальные инструменты сетевых атак</vt:lpstr>
      <vt:lpstr>Актуальные решения по противодействию сетевых атак</vt:lpstr>
      <vt:lpstr>Слайд 7</vt:lpstr>
      <vt:lpstr>Слайд 8</vt:lpstr>
      <vt:lpstr>Структурно-функциональная схема предлагаемой ИАС</vt:lpstr>
      <vt:lpstr>Слайд 10</vt:lpstr>
      <vt:lpstr>Тестирование системы</vt:lpstr>
      <vt:lpstr>Слайд 12</vt:lpstr>
      <vt:lpstr>Тестирование системы</vt:lpstr>
      <vt:lpstr>Тестирование системы и результат анализа</vt:lpstr>
      <vt:lpstr>Экономический раздел</vt:lpstr>
      <vt:lpstr>Слайд 16</vt:lpstr>
    </vt:vector>
  </TitlesOfParts>
  <Manager>Станислав А. Кудж</Manager>
  <Company>РСА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Предложения к Концепции</dc:title>
  <dc:creator>Станислав А. Кудж</dc:creator>
  <cp:lastModifiedBy>Мотюля</cp:lastModifiedBy>
  <cp:revision>668</cp:revision>
  <cp:lastPrinted>2017-04-28T08:27:55Z</cp:lastPrinted>
  <dcterms:created xsi:type="dcterms:W3CDTF">2004-03-24T15:36:34Z</dcterms:created>
  <dcterms:modified xsi:type="dcterms:W3CDTF">2025-01-14T13:14:18Z</dcterms:modified>
</cp:coreProperties>
</file>